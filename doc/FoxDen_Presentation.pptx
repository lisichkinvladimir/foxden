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82" r:id="rId3"/>
    <p:sldId id="258" r:id="rId4"/>
    <p:sldId id="279" r:id="rId5"/>
    <p:sldId id="259" r:id="rId6"/>
    <p:sldId id="264" r:id="rId7"/>
    <p:sldId id="260" r:id="rId8"/>
    <p:sldId id="285" r:id="rId9"/>
    <p:sldId id="276" r:id="rId10"/>
    <p:sldId id="270" r:id="rId11"/>
    <p:sldId id="263" r:id="rId12"/>
    <p:sldId id="268" r:id="rId13"/>
    <p:sldId id="284" r:id="rId14"/>
    <p:sldId id="281" r:id="rId15"/>
    <p:sldId id="286" r:id="rId16"/>
    <p:sldId id="278" r:id="rId17"/>
    <p:sldId id="277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764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1710" y="8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5219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9191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3096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9696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4461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300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437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4398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1068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673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434840" y="556261"/>
            <a:ext cx="4343071" cy="4192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2563">
              <a:lnSpc>
                <a:spcPct val="150000"/>
              </a:lnSpc>
            </a:pPr>
            <a:r>
              <a:rPr lang="ru-RU" sz="2800" b="1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Проектная работа на тему:</a:t>
            </a:r>
            <a:endParaRPr lang="en-US" sz="2800" b="1" dirty="0">
              <a:solidFill>
                <a:srgbClr val="1C3354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66700">
              <a:lnSpc>
                <a:spcPct val="150000"/>
              </a:lnSpc>
            </a:pPr>
            <a:r>
              <a:rPr lang="ru-RU" sz="2800" b="1" dirty="0" smtClean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</a:t>
            </a:r>
            <a:r>
              <a:rPr lang="en-US" sz="2800" b="1" dirty="0" err="1" smtClean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Автоматизация</a:t>
            </a:r>
            <a:r>
              <a:rPr lang="en-US" sz="2800" b="1" dirty="0" smtClean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b="1" dirty="0" err="1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передачи</a:t>
            </a:r>
            <a:r>
              <a:rPr lang="en-US" sz="2800" b="1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b="1" dirty="0" err="1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показаний</a:t>
            </a:r>
            <a:r>
              <a:rPr lang="en-US" sz="2800" b="1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 </a:t>
            </a:r>
            <a:r>
              <a:rPr lang="en-US" sz="2800" b="1" dirty="0" err="1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контролем</a:t>
            </a:r>
            <a:r>
              <a:rPr lang="en-US" sz="2800" b="1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b="1" dirty="0" err="1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утечек</a:t>
            </a:r>
            <a:r>
              <a:rPr lang="en-US" sz="2800" b="1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</a:t>
            </a:r>
            <a:r>
              <a:rPr lang="en-US" sz="2800" b="1" dirty="0" err="1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анализом</a:t>
            </a:r>
            <a:r>
              <a:rPr lang="en-US" sz="2800" b="1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b="1" dirty="0" err="1" smtClean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расходов</a:t>
            </a:r>
            <a:r>
              <a:rPr lang="ru-RU" sz="2800" b="1" dirty="0" smtClean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»</a:t>
            </a:r>
            <a:r>
              <a:rPr lang="en-US" sz="2800" b="1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400" b="1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200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3200" b="1" dirty="0">
                <a:solidFill>
                  <a:srgbClr val="1C3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
</a:t>
            </a:r>
            <a:r>
              <a:rPr lang="en-US" sz="3200" dirty="0">
                <a:solidFill>
                  <a:srgbClr val="1C3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
</a:t>
            </a:r>
            <a:r>
              <a:rPr lang="en-US" sz="3200" i="1" dirty="0">
                <a:solidFill>
                  <a:srgbClr val="1C3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
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73503" y="655841"/>
            <a:ext cx="4297557" cy="40395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1C3354"/>
                </a:solidFill>
                <a:ea typeface="Arial" pitchFamily="34" charset="-122"/>
                <a:cs typeface="Times New Roman" panose="02020603050405020304" pitchFamily="18" charset="0"/>
              </a:rPr>
              <a:t>Выполнил</a:t>
            </a:r>
            <a:r>
              <a:rPr lang="en-US" sz="2000" b="1" dirty="0">
                <a:solidFill>
                  <a:srgbClr val="1C3354"/>
                </a:solidFill>
                <a:ea typeface="Arial" pitchFamily="34" charset="-122"/>
                <a:cs typeface="Times New Roman" panose="02020603050405020304" pitchFamily="18" charset="0"/>
              </a:rPr>
              <a:t>:</a:t>
            </a:r>
            <a:endParaRPr lang="ru-RU" sz="2000" b="1" dirty="0">
              <a:solidFill>
                <a:srgbClr val="1C3354"/>
              </a:solidFill>
              <a:ea typeface="Arial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1C3354"/>
                </a:solidFill>
                <a:ea typeface="Arial" pitchFamily="34" charset="-122"/>
                <a:cs typeface="Times New Roman" panose="02020603050405020304" pitchFamily="18" charset="0"/>
              </a:rPr>
              <a:t>Лисичкин Владимир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1C3354"/>
                </a:solidFill>
                <a:ea typeface="Arial" pitchFamily="34" charset="-122"/>
                <a:cs typeface="Times New Roman" panose="02020603050405020304" pitchFamily="18" charset="0"/>
              </a:rPr>
              <a:t>ученик </a:t>
            </a:r>
            <a:r>
              <a:rPr lang="en-US" sz="2000" b="1" dirty="0">
                <a:solidFill>
                  <a:srgbClr val="1C3354"/>
                </a:solidFill>
                <a:ea typeface="Arial" pitchFamily="34" charset="-122"/>
                <a:cs typeface="Times New Roman" panose="02020603050405020304" pitchFamily="18" charset="0"/>
              </a:rPr>
              <a:t>10</a:t>
            </a:r>
            <a:r>
              <a:rPr lang="ru-RU" sz="2000" b="1" dirty="0">
                <a:solidFill>
                  <a:srgbClr val="1C3354"/>
                </a:solidFill>
                <a:ea typeface="Arial" pitchFamily="34" charset="-122"/>
                <a:cs typeface="Times New Roman" panose="02020603050405020304" pitchFamily="18" charset="0"/>
              </a:rPr>
              <a:t>В </a:t>
            </a:r>
            <a:r>
              <a:rPr lang="ru-RU" sz="2000" b="1" dirty="0">
                <a:solidFill>
                  <a:srgbClr val="1C3354"/>
                </a:solidFill>
                <a:ea typeface="Arial" pitchFamily="34" charset="-122"/>
                <a:cs typeface="Times New Roman" panose="02020603050405020304" pitchFamily="18" charset="0"/>
              </a:rPr>
              <a:t>класса ГБОУ </a:t>
            </a:r>
            <a:endParaRPr lang="ru-RU" sz="2000" b="1" dirty="0" smtClean="0">
              <a:solidFill>
                <a:srgbClr val="1C3354"/>
              </a:solidFill>
              <a:ea typeface="Arial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000" b="1" dirty="0" smtClean="0">
                <a:solidFill>
                  <a:srgbClr val="1C3354"/>
                </a:solidFill>
                <a:ea typeface="Arial" pitchFamily="34" charset="-122"/>
                <a:cs typeface="Times New Roman" panose="02020603050405020304" pitchFamily="18" charset="0"/>
              </a:rPr>
              <a:t>г</a:t>
            </a:r>
            <a:r>
              <a:rPr lang="ru-RU" sz="2000" b="1" dirty="0">
                <a:solidFill>
                  <a:srgbClr val="1C3354"/>
                </a:solidFill>
                <a:ea typeface="Arial" pitchFamily="34" charset="-122"/>
                <a:cs typeface="Times New Roman" panose="02020603050405020304" pitchFamily="18" charset="0"/>
              </a:rPr>
              <a:t>. </a:t>
            </a:r>
            <a:r>
              <a:rPr lang="ru-RU" sz="2000" b="1" dirty="0">
                <a:solidFill>
                  <a:srgbClr val="1C3354"/>
                </a:solidFill>
                <a:ea typeface="Arial" pitchFamily="34" charset="-122"/>
                <a:cs typeface="Times New Roman" panose="02020603050405020304" pitchFamily="18" charset="0"/>
              </a:rPr>
              <a:t>Москвы </a:t>
            </a:r>
            <a:r>
              <a:rPr lang="ru-RU" sz="2000" b="1" dirty="0">
                <a:solidFill>
                  <a:srgbClr val="1C3354"/>
                </a:solidFill>
                <a:ea typeface="Arial" pitchFamily="34" charset="-122"/>
                <a:cs typeface="Times New Roman" panose="02020603050405020304" pitchFamily="18" charset="0"/>
              </a:rPr>
              <a:t>Школа </a:t>
            </a:r>
            <a:r>
              <a:rPr lang="ru-RU" sz="2000" b="1" dirty="0">
                <a:solidFill>
                  <a:srgbClr val="1C3354"/>
                </a:solidFill>
                <a:ea typeface="Arial" pitchFamily="34" charset="-122"/>
                <a:cs typeface="Times New Roman" panose="02020603050405020304" pitchFamily="18" charset="0"/>
              </a:rPr>
              <a:t>№1502 «Энергия</a:t>
            </a:r>
            <a:r>
              <a:rPr lang="ru-RU" sz="2000" b="1" dirty="0">
                <a:solidFill>
                  <a:srgbClr val="1C3354"/>
                </a:solidFill>
                <a:ea typeface="Arial" pitchFamily="34" charset="-122"/>
                <a:cs typeface="Times New Roman" panose="02020603050405020304" pitchFamily="18" charset="0"/>
              </a:rPr>
              <a:t>»</a:t>
            </a:r>
            <a:endParaRPr lang="ru-RU" sz="2000" b="1" dirty="0">
              <a:solidFill>
                <a:srgbClr val="1C3354"/>
              </a:solidFill>
              <a:ea typeface="Arial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100" b="1" dirty="0" smtClean="0">
              <a:solidFill>
                <a:srgbClr val="1C3354"/>
              </a:solidFill>
              <a:ea typeface="Arial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000" b="1" dirty="0" smtClean="0">
                <a:solidFill>
                  <a:srgbClr val="1C3354"/>
                </a:solidFill>
                <a:ea typeface="Arial" pitchFamily="34" charset="-122"/>
                <a:cs typeface="Times New Roman" panose="02020603050405020304" pitchFamily="18" charset="0"/>
              </a:rPr>
              <a:t>Научный </a:t>
            </a:r>
            <a:r>
              <a:rPr lang="ru-RU" sz="2000" b="1" dirty="0">
                <a:solidFill>
                  <a:srgbClr val="1C3354"/>
                </a:solidFill>
                <a:ea typeface="Arial" pitchFamily="34" charset="-122"/>
                <a:cs typeface="Times New Roman" panose="02020603050405020304" pitchFamily="18" charset="0"/>
              </a:rPr>
              <a:t>руководитель</a:t>
            </a:r>
            <a:r>
              <a:rPr lang="en-US" sz="2000" b="1" dirty="0">
                <a:solidFill>
                  <a:srgbClr val="1C3354"/>
                </a:solidFill>
                <a:ea typeface="Arial" pitchFamily="34" charset="-122"/>
                <a:cs typeface="Times New Roman" panose="02020603050405020304" pitchFamily="18" charset="0"/>
              </a:rPr>
              <a:t>:</a:t>
            </a:r>
            <a:endParaRPr lang="ru-RU" sz="2000" b="1" dirty="0">
              <a:solidFill>
                <a:srgbClr val="1C3354"/>
              </a:solidFill>
              <a:ea typeface="Arial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1C3354"/>
                </a:solidFill>
                <a:ea typeface="Arial" pitchFamily="34" charset="-122"/>
                <a:cs typeface="Times New Roman" panose="02020603050405020304" pitchFamily="18" charset="0"/>
              </a:rPr>
              <a:t>Екатерина Алексеевна Королева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rgbClr val="1C3354"/>
                </a:solidFill>
                <a:ea typeface="Arial" pitchFamily="34" charset="-122"/>
                <a:cs typeface="Times New Roman" panose="02020603050405020304" pitchFamily="18" charset="0"/>
              </a:rPr>
              <a:t>Учитель </a:t>
            </a:r>
            <a:r>
              <a:rPr lang="ru-RU" sz="2000" b="1" dirty="0">
                <a:solidFill>
                  <a:srgbClr val="1C3354"/>
                </a:solidFill>
                <a:ea typeface="Arial" pitchFamily="34" charset="-122"/>
                <a:cs typeface="Times New Roman" panose="02020603050405020304" pitchFamily="18" charset="0"/>
              </a:rPr>
              <a:t>информатики ГБОУ г. Москвы </a:t>
            </a:r>
            <a:r>
              <a:rPr lang="ru-RU" sz="2000" b="1" dirty="0">
                <a:solidFill>
                  <a:srgbClr val="1C3354"/>
                </a:solidFill>
                <a:ea typeface="Arial" pitchFamily="34" charset="-122"/>
                <a:cs typeface="Times New Roman" panose="02020603050405020304" pitchFamily="18" charset="0"/>
              </a:rPr>
              <a:t>Школа </a:t>
            </a:r>
            <a:r>
              <a:rPr lang="ru-RU" sz="2000" b="1" dirty="0">
                <a:solidFill>
                  <a:srgbClr val="1C3354"/>
                </a:solidFill>
                <a:ea typeface="Arial" pitchFamily="34" charset="-122"/>
                <a:cs typeface="Times New Roman" panose="02020603050405020304" pitchFamily="18" charset="0"/>
              </a:rPr>
              <a:t>№1502 «Энергия</a:t>
            </a:r>
            <a:r>
              <a:rPr lang="ru-RU" sz="2000" b="1" dirty="0">
                <a:solidFill>
                  <a:srgbClr val="1C3354"/>
                </a:solidFill>
                <a:ea typeface="Arial" pitchFamily="34" charset="-122"/>
                <a:cs typeface="Times New Roman" panose="02020603050405020304" pitchFamily="18" charset="0"/>
              </a:rPr>
              <a:t>»</a:t>
            </a:r>
            <a:endParaRPr lang="ru-RU" sz="2000" b="1" dirty="0">
              <a:solidFill>
                <a:srgbClr val="1C3354"/>
              </a:solidFill>
              <a:ea typeface="Arial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1538"/>
            <a:ext cx="9144000" cy="51435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4375" y="4866200"/>
            <a:ext cx="547800" cy="62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ru-RU" sz="1200" b="1" dirty="0" smtClean="0">
                <a:solidFill>
                  <a:srgbClr val="4276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3672405" y="701738"/>
            <a:ext cx="5045310" cy="1691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82563" algn="just">
              <a:lnSpc>
                <a:spcPct val="140000"/>
              </a:lnSpc>
            </a:pPr>
            <a:r>
              <a:rPr lang="ru-RU" sz="1900" dirty="0" smtClean="0">
                <a:solidFill>
                  <a:srgbClr val="1C3354"/>
                </a:solidFill>
                <a:ea typeface="Arial" pitchFamily="34" charset="-122"/>
                <a:cs typeface="Arial" pitchFamily="34" charset="-120"/>
              </a:rPr>
              <a:t>Высокие тарифы ЖКХ и активная </a:t>
            </a:r>
            <a:r>
              <a:rPr lang="ru-RU" sz="1900" dirty="0" err="1" smtClean="0">
                <a:solidFill>
                  <a:srgbClr val="1C3354"/>
                </a:solidFill>
                <a:ea typeface="Arial" pitchFamily="34" charset="-122"/>
                <a:cs typeface="Arial" pitchFamily="34" charset="-120"/>
              </a:rPr>
              <a:t>цифровизация</a:t>
            </a:r>
            <a:r>
              <a:rPr lang="ru-RU" sz="1900" dirty="0" smtClean="0">
                <a:solidFill>
                  <a:srgbClr val="1C3354"/>
                </a:solidFill>
                <a:ea typeface="Arial" pitchFamily="34" charset="-122"/>
                <a:cs typeface="Arial" pitchFamily="34" charset="-120"/>
              </a:rPr>
              <a:t> вызывают необходимость создания автоматизированных систем учёта потребления ресурсов. 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-891540" y="54025"/>
            <a:ext cx="10591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82563" algn="ctr"/>
            <a:r>
              <a:rPr lang="en-US" sz="2400" b="1" dirty="0" err="1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Введение</a:t>
            </a:r>
            <a:r>
              <a:rPr lang="en-US" sz="2400" b="1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</a:t>
            </a:r>
            <a:r>
              <a:rPr lang="en-US" sz="2400" b="1" dirty="0" err="1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предпосылки</a:t>
            </a:r>
            <a:r>
              <a:rPr lang="en-US" sz="2400" b="1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b="1" dirty="0" err="1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исследования</a:t>
            </a:r>
            <a:endParaRPr lang="ru-RU" sz="2400" b="1" dirty="0">
              <a:solidFill>
                <a:srgbClr val="1C3354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pic>
        <p:nvPicPr>
          <p:cNvPr id="4098" name="Picture 2" descr="Picture backgroun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475" y="561217"/>
            <a:ext cx="3020245" cy="1968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54475" y="2449337"/>
            <a:ext cx="8347987" cy="2548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182563" algn="just">
              <a:lnSpc>
                <a:spcPct val="140000"/>
              </a:lnSpc>
            </a:pPr>
            <a:r>
              <a:rPr lang="ru-RU" sz="1900" dirty="0">
                <a:solidFill>
                  <a:srgbClr val="1C3354"/>
                </a:solidFill>
                <a:ea typeface="Arial" pitchFamily="34" charset="-122"/>
                <a:cs typeface="Arial" pitchFamily="34" charset="-120"/>
              </a:rPr>
              <a:t>Однако, большой проблемой ЖКХ в России является устаревший жилой фонд, состоящий из почти 1.5 млн. многоквартирных домов советской постройки. В них приборы учета устанавливаются и обслуживаются по инициативе собственников и за их счет.  </a:t>
            </a:r>
          </a:p>
          <a:p>
            <a:pPr indent="182563" algn="just">
              <a:lnSpc>
                <a:spcPct val="140000"/>
              </a:lnSpc>
            </a:pPr>
            <a:r>
              <a:rPr lang="ru-RU" sz="1900" dirty="0" smtClean="0">
                <a:solidFill>
                  <a:srgbClr val="1C3354"/>
                </a:solidFill>
                <a:ea typeface="Arial" pitchFamily="34" charset="-122"/>
                <a:cs typeface="Arial" pitchFamily="34" charset="-120"/>
              </a:rPr>
              <a:t>А </a:t>
            </a:r>
            <a:r>
              <a:rPr lang="ru-RU" sz="1900" dirty="0">
                <a:solidFill>
                  <a:srgbClr val="1C3354"/>
                </a:solidFill>
                <a:ea typeface="Arial" pitchFamily="34" charset="-122"/>
                <a:cs typeface="Arial" pitchFamily="34" charset="-120"/>
              </a:rPr>
              <a:t>«</a:t>
            </a:r>
            <a:r>
              <a:rPr lang="ru-RU" sz="1900" dirty="0" smtClean="0">
                <a:solidFill>
                  <a:srgbClr val="1C3354"/>
                </a:solidFill>
                <a:ea typeface="Arial" pitchFamily="34" charset="-122"/>
                <a:cs typeface="Arial" pitchFamily="34" charset="-120"/>
              </a:rPr>
              <a:t>умные» </a:t>
            </a:r>
            <a:r>
              <a:rPr lang="ru-RU" sz="1900" dirty="0">
                <a:solidFill>
                  <a:srgbClr val="1C3354"/>
                </a:solidFill>
                <a:ea typeface="Arial" pitchFamily="34" charset="-122"/>
                <a:cs typeface="Arial" pitchFamily="34" charset="-120"/>
              </a:rPr>
              <a:t>приборы </a:t>
            </a:r>
            <a:r>
              <a:rPr lang="ru-RU" sz="1900" dirty="0" smtClean="0">
                <a:solidFill>
                  <a:srgbClr val="1C3354"/>
                </a:solidFill>
                <a:ea typeface="Arial" pitchFamily="34" charset="-122"/>
                <a:cs typeface="Arial" pitchFamily="34" charset="-120"/>
              </a:rPr>
              <a:t>учета </a:t>
            </a:r>
            <a:r>
              <a:rPr lang="ru-RU" sz="1900" dirty="0">
                <a:solidFill>
                  <a:srgbClr val="1C3354"/>
                </a:solidFill>
                <a:ea typeface="Arial" pitchFamily="34" charset="-122"/>
                <a:cs typeface="Arial" pitchFamily="34" charset="-120"/>
              </a:rPr>
              <a:t>сегодня устанавливаются государством только в новостройках.</a:t>
            </a:r>
            <a:endParaRPr lang="en-US" sz="1900" dirty="0">
              <a:solidFill>
                <a:srgbClr val="1C3354"/>
              </a:solidFill>
              <a:ea typeface="Arial" pitchFamily="34" charset="-122"/>
              <a:cs typeface="Arial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8098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ext 0"/>
          <p:cNvSpPr txBox="1"/>
          <p:nvPr/>
        </p:nvSpPr>
        <p:spPr>
          <a:xfrm>
            <a:off x="289560" y="141446"/>
            <a:ext cx="8557500" cy="489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endParaRPr lang="ru-RU" sz="3000" b="1" dirty="0" smtClean="0">
              <a:solidFill>
                <a:srgbClr val="1C3354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800" b="1" dirty="0" smtClean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Актуальность</a:t>
            </a:r>
            <a:r>
              <a:rPr lang="ru-RU" sz="2800" b="1" dirty="0" smtClean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проекта</a:t>
            </a:r>
            <a:r>
              <a:rPr lang="en-US" sz="2800" b="1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2800" dirty="0"/>
          </a:p>
        </p:txBody>
      </p:sp>
      <p:sp>
        <p:nvSpPr>
          <p:cNvPr id="10" name="Text 1"/>
          <p:cNvSpPr txBox="1"/>
          <p:nvPr/>
        </p:nvSpPr>
        <p:spPr>
          <a:xfrm>
            <a:off x="104375" y="4866200"/>
            <a:ext cx="551700" cy="27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ru-RU" sz="1200" b="1" dirty="0">
                <a:solidFill>
                  <a:srgbClr val="427697"/>
                </a:solidFill>
                <a:latin typeface="Arial" pitchFamily="34" charset="0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18889" y="1209064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3327635" y="772772"/>
            <a:ext cx="5816365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 smtClean="0"/>
              <a:t>Оперативность и удобство передачи показаний ПУ (нет необходимости снимать показания физически)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 smtClean="0"/>
              <a:t>Исключение погрешностей и ошибок снятия показаний</a:t>
            </a:r>
            <a:endParaRPr lang="ru-RU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 smtClean="0"/>
              <a:t>Низкая стоимость устройства (ниже чем аналоги)</a:t>
            </a:r>
            <a:endParaRPr lang="ru-RU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 smtClean="0"/>
              <a:t>Удобство анализа потребления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 smtClean="0"/>
              <a:t>Информирование об утечках ресурсов</a:t>
            </a:r>
            <a:endParaRPr lang="ru-R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/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79" y="760679"/>
            <a:ext cx="3268191" cy="36436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13" y="-28772"/>
            <a:ext cx="9199645" cy="5267632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224435" y="344804"/>
            <a:ext cx="4131900" cy="4301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ru-RU" sz="2800" b="1" dirty="0" smtClean="0">
                <a:solidFill>
                  <a:srgbClr val="1C3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Проблема утечек для владельцев квартир</a:t>
            </a:r>
          </a:p>
          <a:p>
            <a:endParaRPr lang="ru-RU" sz="1000" b="1" dirty="0" smtClean="0">
              <a:solidFill>
                <a:srgbClr val="1C3354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/>
              <a:t>Скрытые </a:t>
            </a:r>
            <a:r>
              <a:rPr lang="ru-RU" sz="2000" dirty="0" smtClean="0"/>
              <a:t>утечки</a:t>
            </a:r>
            <a:endParaRPr lang="ru-RU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/>
              <a:t>Финансовые </a:t>
            </a:r>
            <a:r>
              <a:rPr lang="ru-RU" sz="2000" dirty="0" smtClean="0"/>
              <a:t>потери</a:t>
            </a:r>
            <a:endParaRPr lang="ru-RU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 smtClean="0"/>
              <a:t>Затопления</a:t>
            </a:r>
            <a:endParaRPr lang="ru-RU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/>
              <a:t>Отсутствие оперативного контроля</a:t>
            </a:r>
            <a:endParaRPr lang="en-US" sz="2000" dirty="0"/>
          </a:p>
        </p:txBody>
      </p:sp>
      <p:sp>
        <p:nvSpPr>
          <p:cNvPr id="7" name="Text 1"/>
          <p:cNvSpPr txBox="1"/>
          <p:nvPr/>
        </p:nvSpPr>
        <p:spPr>
          <a:xfrm>
            <a:off x="152430" y="4866200"/>
            <a:ext cx="547800" cy="62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ru-RU" sz="1200" b="1" dirty="0">
                <a:solidFill>
                  <a:srgbClr val="427697"/>
                </a:solidFill>
                <a:latin typeface="Arial" pitchFamily="34" charset="0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9" name="AutoShape 4" descr="SuperMini ESP32-C3 Development Board (SuperMini-ESP32-C3) Configuration for  Tasmot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5395" y="548640"/>
            <a:ext cx="4648200" cy="389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310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6E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375" y="-42153"/>
            <a:ext cx="9144000" cy="5227806"/>
          </a:xfrm>
          <a:prstGeom prst="rect">
            <a:avLst/>
          </a:prstGeom>
        </p:spPr>
      </p:pic>
      <p:sp>
        <p:nvSpPr>
          <p:cNvPr id="10" name="Text 0"/>
          <p:cNvSpPr txBox="1"/>
          <p:nvPr/>
        </p:nvSpPr>
        <p:spPr>
          <a:xfrm>
            <a:off x="182210" y="129695"/>
            <a:ext cx="8115300" cy="80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C3354"/>
                </a:solidFill>
                <a:ea typeface="Arial" pitchFamily="34" charset="-122"/>
                <a:cs typeface="Arial" pitchFamily="34" charset="-120"/>
              </a:rPr>
              <a:t>Цель и задачи проекта
</a:t>
            </a:r>
            <a:endParaRPr lang="en-US" sz="2800" dirty="0"/>
          </a:p>
        </p:txBody>
      </p:sp>
      <p:sp>
        <p:nvSpPr>
          <p:cNvPr id="11" name="Text 1"/>
          <p:cNvSpPr txBox="1"/>
          <p:nvPr/>
        </p:nvSpPr>
        <p:spPr>
          <a:xfrm>
            <a:off x="104375" y="4866200"/>
            <a:ext cx="547800" cy="62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ru-RU" sz="1200" b="1" dirty="0" smtClean="0">
                <a:solidFill>
                  <a:srgbClr val="4276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2" name="Text 2"/>
          <p:cNvSpPr txBox="1"/>
          <p:nvPr/>
        </p:nvSpPr>
        <p:spPr>
          <a:xfrm>
            <a:off x="579728" y="878095"/>
            <a:ext cx="2530986" cy="210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 err="1">
                <a:solidFill>
                  <a:srgbClr val="1E395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Анализ</a:t>
            </a:r>
            <a:r>
              <a:rPr lang="en-US" sz="1600" b="1" dirty="0">
                <a:solidFill>
                  <a:srgbClr val="1E395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1E395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существующих</a:t>
            </a:r>
            <a:r>
              <a:rPr lang="en-US" sz="1600" b="1" dirty="0">
                <a:solidFill>
                  <a:srgbClr val="1E395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solidFill>
                  <a:srgbClr val="1E395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решений</a:t>
            </a:r>
            <a:r>
              <a:rPr lang="en-US" sz="1600" b="1" dirty="0">
                <a:solidFill>
                  <a:srgbClr val="1E395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
</a:t>
            </a:r>
            <a:r>
              <a:rPr lang="en-US" sz="1600" dirty="0" err="1">
                <a:solidFill>
                  <a:srgbClr val="1C3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Изучение</a:t>
            </a:r>
            <a:r>
              <a:rPr lang="en-US" sz="1600" dirty="0">
                <a:solidFill>
                  <a:srgbClr val="1C3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1C3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технологий</a:t>
            </a:r>
            <a:r>
              <a:rPr lang="en-US" sz="1600" dirty="0">
                <a:solidFill>
                  <a:srgbClr val="1C3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1C3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автоматизации</a:t>
            </a:r>
            <a:r>
              <a:rPr lang="en-US" sz="1600" dirty="0">
                <a:solidFill>
                  <a:srgbClr val="1C3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с </a:t>
            </a:r>
            <a:r>
              <a:rPr lang="en-US" sz="1600" dirty="0" err="1">
                <a:solidFill>
                  <a:srgbClr val="1C3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выявлением</a:t>
            </a:r>
            <a:r>
              <a:rPr lang="en-US" sz="1600" dirty="0">
                <a:solidFill>
                  <a:srgbClr val="1C3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1C3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сильных</a:t>
            </a:r>
            <a:r>
              <a:rPr lang="en-US" sz="1600" dirty="0">
                <a:solidFill>
                  <a:srgbClr val="1C3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и </a:t>
            </a:r>
            <a:r>
              <a:rPr lang="en-US" sz="1600" dirty="0" err="1">
                <a:solidFill>
                  <a:srgbClr val="1C3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слабых</a:t>
            </a:r>
            <a:r>
              <a:rPr lang="en-US" sz="1600" dirty="0">
                <a:solidFill>
                  <a:srgbClr val="1C3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1C3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сторон</a:t>
            </a:r>
            <a:r>
              <a:rPr lang="en-US" sz="1600" dirty="0">
                <a:solidFill>
                  <a:srgbClr val="1C3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. </a:t>
            </a:r>
            <a:r>
              <a:rPr lang="en-US" sz="1600" dirty="0">
                <a:solidFill>
                  <a:srgbClr val="1E395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
</a:t>
            </a:r>
            <a:r>
              <a:rPr lang="en-US" sz="2000" dirty="0">
                <a:solidFill>
                  <a:srgbClr val="1C3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
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3"/>
          <p:cNvSpPr txBox="1"/>
          <p:nvPr/>
        </p:nvSpPr>
        <p:spPr>
          <a:xfrm>
            <a:off x="1845221" y="3296178"/>
            <a:ext cx="2725787" cy="1313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 err="1">
                <a:solidFill>
                  <a:srgbClr val="1E395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Проектирование</a:t>
            </a:r>
            <a:r>
              <a:rPr lang="en-US" sz="1600" b="1" dirty="0">
                <a:solidFill>
                  <a:srgbClr val="1E395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1E395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архитектуры</a:t>
            </a:r>
            <a:r>
              <a:rPr lang="en-US" sz="1600" b="1" dirty="0">
                <a:solidFill>
                  <a:srgbClr val="1E395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
</a:t>
            </a:r>
            <a:r>
              <a:rPr lang="en-US" sz="1600" dirty="0" err="1">
                <a:solidFill>
                  <a:srgbClr val="1E395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Разработка</a:t>
            </a:r>
            <a:r>
              <a:rPr lang="en-US" sz="1600" dirty="0">
                <a:solidFill>
                  <a:srgbClr val="1E395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1E395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структуры</a:t>
            </a:r>
            <a:r>
              <a:rPr lang="en-US" sz="1600" dirty="0">
                <a:solidFill>
                  <a:srgbClr val="1E395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1E395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системы</a:t>
            </a:r>
            <a:r>
              <a:rPr lang="en-US" sz="1200" dirty="0">
                <a:solidFill>
                  <a:srgbClr val="1C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1C3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
</a:t>
            </a:r>
            <a:r>
              <a:rPr lang="en-US" sz="2400" dirty="0">
                <a:solidFill>
                  <a:srgbClr val="1C33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
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4"/>
          <p:cNvSpPr txBox="1"/>
          <p:nvPr/>
        </p:nvSpPr>
        <p:spPr>
          <a:xfrm>
            <a:off x="3395791" y="1169737"/>
            <a:ext cx="2697480" cy="1818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 err="1">
                <a:solidFill>
                  <a:srgbClr val="1C3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Создание</a:t>
            </a:r>
            <a:r>
              <a:rPr lang="en-US" sz="1600" b="1" dirty="0">
                <a:solidFill>
                  <a:srgbClr val="1C3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solidFill>
                  <a:srgbClr val="1C3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прототипа</a:t>
            </a:r>
            <a:r>
              <a:rPr lang="en-US" sz="1600" b="1" dirty="0">
                <a:solidFill>
                  <a:srgbClr val="1C3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
</a:t>
            </a:r>
            <a:r>
              <a:rPr lang="ru-RU" sz="1600" dirty="0">
                <a:solidFill>
                  <a:srgbClr val="1C3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разработать  схему системы, определив роли и взаимодействие компонентов </a:t>
            </a:r>
            <a:r>
              <a:rPr lang="en-US" sz="1600" dirty="0">
                <a:solidFill>
                  <a:srgbClr val="1C3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
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5"/>
          <p:cNvSpPr txBox="1"/>
          <p:nvPr/>
        </p:nvSpPr>
        <p:spPr>
          <a:xfrm>
            <a:off x="4851195" y="3296178"/>
            <a:ext cx="4201365" cy="1504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 err="1">
                <a:solidFill>
                  <a:srgbClr val="1E395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Разработка</a:t>
            </a:r>
            <a:r>
              <a:rPr lang="en-US" sz="1600" b="1" dirty="0">
                <a:solidFill>
                  <a:srgbClr val="1E395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1E395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алгоритмов</a:t>
            </a:r>
            <a:r>
              <a:rPr lang="en-US" sz="1600" b="1" dirty="0">
                <a:solidFill>
                  <a:srgbClr val="1E395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solidFill>
                  <a:srgbClr val="1E395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анализа</a:t>
            </a:r>
            <a:r>
              <a:rPr lang="en-US" sz="1600" b="1" dirty="0">
                <a:solidFill>
                  <a:srgbClr val="1E395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
</a:t>
            </a:r>
            <a:r>
              <a:rPr lang="ru-RU" sz="1600" dirty="0">
                <a:solidFill>
                  <a:srgbClr val="1E395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разработать </a:t>
            </a:r>
            <a:r>
              <a:rPr lang="en-US" sz="1600" dirty="0">
                <a:solidFill>
                  <a:srgbClr val="1E395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web</a:t>
            </a:r>
            <a:r>
              <a:rPr lang="ru-RU" sz="1600" dirty="0">
                <a:solidFill>
                  <a:srgbClr val="1E395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-сайт для пользователя с функциями статистики, получения уведомлений по </a:t>
            </a:r>
            <a:r>
              <a:rPr lang="en-US" sz="1600" dirty="0">
                <a:solidFill>
                  <a:srgbClr val="1E395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Email</a:t>
            </a:r>
            <a:endParaRPr lang="ru-RU" sz="1600" dirty="0">
              <a:solidFill>
                <a:srgbClr val="1E3950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  <a:p>
            <a:r>
              <a:rPr lang="en-US" sz="2400" dirty="0">
                <a:solidFill>
                  <a:srgbClr val="1E395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
</a:t>
            </a:r>
            <a:r>
              <a:rPr lang="en-US" sz="2400" dirty="0">
                <a:solidFill>
                  <a:srgbClr val="1C3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
</a:t>
            </a:r>
          </a:p>
        </p:txBody>
      </p:sp>
      <p:sp>
        <p:nvSpPr>
          <p:cNvPr id="16" name="Text 6"/>
          <p:cNvSpPr txBox="1"/>
          <p:nvPr/>
        </p:nvSpPr>
        <p:spPr>
          <a:xfrm>
            <a:off x="6214100" y="1296630"/>
            <a:ext cx="2635148" cy="1637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600" b="1" dirty="0">
                <a:solidFill>
                  <a:srgbClr val="1C3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В</a:t>
            </a:r>
            <a:r>
              <a:rPr lang="en-US" sz="1600" b="1" dirty="0" err="1">
                <a:solidFill>
                  <a:srgbClr val="1C3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недрение</a:t>
            </a:r>
            <a:r>
              <a:rPr lang="en-US" sz="1600" b="1" dirty="0">
                <a:solidFill>
                  <a:srgbClr val="1C3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
</a:t>
            </a:r>
            <a:r>
              <a:rPr lang="ru-RU" sz="1600" dirty="0">
                <a:solidFill>
                  <a:srgbClr val="1C3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разработать модуль анализа расходов утечек и </a:t>
            </a:r>
            <a:r>
              <a:rPr lang="ru-RU" sz="1600" dirty="0" err="1">
                <a:solidFill>
                  <a:srgbClr val="1C3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информироваия</a:t>
            </a:r>
            <a:r>
              <a:rPr lang="en-US" sz="2400" b="1" dirty="0" smtClean="0">
                <a:solidFill>
                  <a:srgbClr val="1C335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
</a:t>
            </a:r>
            <a:endParaRPr lang="en-US" sz="2400" b="1" dirty="0">
              <a:solidFill>
                <a:srgbClr val="1C3354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6E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24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414" y="953259"/>
            <a:ext cx="743522" cy="660907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7918" y="988939"/>
            <a:ext cx="535164" cy="611617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6044" y="3339840"/>
            <a:ext cx="728267" cy="58261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6534" y="3189085"/>
            <a:ext cx="445388" cy="712619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723750" y="202454"/>
            <a:ext cx="7696500" cy="693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2800" b="1" dirty="0">
                <a:solidFill>
                  <a:srgbClr val="1C3354"/>
                </a:solidFill>
                <a:ea typeface="Arial" pitchFamily="34" charset="-122"/>
                <a:cs typeface="Arial" pitchFamily="34" charset="-120"/>
              </a:rPr>
              <a:t>Архитектура системы</a:t>
            </a:r>
            <a:endParaRPr lang="en-US" sz="2800" b="1" dirty="0">
              <a:solidFill>
                <a:srgbClr val="1C3354"/>
              </a:solidFill>
              <a:ea typeface="Arial" pitchFamily="34" charset="-122"/>
              <a:cs typeface="Arial" pitchFamily="34" charset="-120"/>
            </a:endParaRPr>
          </a:p>
        </p:txBody>
      </p:sp>
      <p:sp>
        <p:nvSpPr>
          <p:cNvPr id="8" name="Text 1"/>
          <p:cNvSpPr txBox="1"/>
          <p:nvPr/>
        </p:nvSpPr>
        <p:spPr>
          <a:xfrm>
            <a:off x="104375" y="4866200"/>
            <a:ext cx="547800" cy="62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ru-RU" sz="1200" b="1" dirty="0">
                <a:solidFill>
                  <a:srgbClr val="427697"/>
                </a:solidFill>
                <a:latin typeface="Arial" pitchFamily="34" charset="0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9" name="Text 2"/>
          <p:cNvSpPr txBox="1"/>
          <p:nvPr/>
        </p:nvSpPr>
        <p:spPr>
          <a:xfrm>
            <a:off x="1134675" y="895800"/>
            <a:ext cx="3279900" cy="874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00" dirty="0" err="1">
                <a:solidFill>
                  <a:srgbClr val="D26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Приборы</a:t>
            </a:r>
            <a:r>
              <a:rPr lang="en-US" sz="2400" dirty="0">
                <a:solidFill>
                  <a:srgbClr val="D26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 smtClean="0">
                <a:solidFill>
                  <a:srgbClr val="D26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учёта</a:t>
            </a:r>
            <a:endParaRPr lang="en-US" sz="2400" dirty="0"/>
          </a:p>
        </p:txBody>
      </p:sp>
      <p:sp>
        <p:nvSpPr>
          <p:cNvPr id="10" name="Text 3"/>
          <p:cNvSpPr txBox="1"/>
          <p:nvPr/>
        </p:nvSpPr>
        <p:spPr>
          <a:xfrm>
            <a:off x="145736" y="1770093"/>
            <a:ext cx="4231861" cy="1399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indent="0">
              <a:lnSpc>
                <a:spcPct val="110046"/>
              </a:lnSpc>
              <a:buNone/>
              <a:defRPr sz="200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Устройства, фиксирующие </a:t>
            </a:r>
            <a:r>
              <a:rPr lang="en-US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расход</a:t>
            </a:r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комунальных ресурсов</a:t>
            </a:r>
            <a:r>
              <a:rPr lang="ru-RU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 с импульсным выходом)</a:t>
            </a:r>
            <a:endParaRPr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Text 4"/>
          <p:cNvSpPr txBox="1"/>
          <p:nvPr/>
        </p:nvSpPr>
        <p:spPr>
          <a:xfrm>
            <a:off x="5337527" y="953259"/>
            <a:ext cx="3279900" cy="10462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800" dirty="0">
                <a:solidFill>
                  <a:srgbClr val="D26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Микроконтроллеры ESP32
</a:t>
            </a:r>
            <a:endParaRPr lang="en-US" sz="2800" dirty="0"/>
          </a:p>
        </p:txBody>
      </p:sp>
      <p:sp>
        <p:nvSpPr>
          <p:cNvPr id="12" name="Text 5"/>
          <p:cNvSpPr txBox="1"/>
          <p:nvPr/>
        </p:nvSpPr>
        <p:spPr>
          <a:xfrm>
            <a:off x="4790042" y="1690250"/>
            <a:ext cx="3837300" cy="1288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/>
              <a:t>Управляющие модули, собирающие данные с приборов и </a:t>
            </a:r>
            <a:r>
              <a:rPr lang="en-US" sz="2000" dirty="0" err="1"/>
              <a:t>датчико</a:t>
            </a:r>
            <a:r>
              <a:rPr lang="ru-RU" sz="2000" dirty="0"/>
              <a:t>в</a:t>
            </a:r>
            <a:r>
              <a:rPr lang="en-US" sz="2000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2000" dirty="0"/>
          </a:p>
        </p:txBody>
      </p:sp>
      <p:sp>
        <p:nvSpPr>
          <p:cNvPr id="13" name="Text 6"/>
          <p:cNvSpPr txBox="1"/>
          <p:nvPr/>
        </p:nvSpPr>
        <p:spPr>
          <a:xfrm>
            <a:off x="1126715" y="3070447"/>
            <a:ext cx="3279900" cy="1149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D26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Облачный сервер и </a:t>
            </a:r>
            <a:r>
              <a:rPr lang="en-US" sz="2400" dirty="0" err="1">
                <a:solidFill>
                  <a:srgbClr val="D26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базы</a:t>
            </a:r>
            <a:r>
              <a:rPr lang="en-US" sz="2400" dirty="0">
                <a:solidFill>
                  <a:srgbClr val="D26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D26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данных</a:t>
            </a:r>
            <a:endParaRPr lang="en-US" sz="2400" dirty="0">
              <a:solidFill>
                <a:srgbClr val="D26A7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4" name="Text 7"/>
          <p:cNvSpPr txBox="1"/>
          <p:nvPr/>
        </p:nvSpPr>
        <p:spPr>
          <a:xfrm>
            <a:off x="343016" y="4219861"/>
            <a:ext cx="3837300" cy="560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46"/>
              </a:lnSpc>
              <a:buNone/>
            </a:pPr>
            <a:r>
              <a:rPr lang="en-US" sz="2000" dirty="0"/>
              <a:t>Хранилище </a:t>
            </a:r>
            <a:r>
              <a:rPr lang="en-US" sz="2000" dirty="0"/>
              <a:t>информаци</a:t>
            </a:r>
            <a:r>
              <a:rPr lang="ru-RU" sz="2000" dirty="0"/>
              <a:t>и</a:t>
            </a:r>
            <a:r>
              <a:rPr lang="en-US" sz="2000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2000" dirty="0"/>
          </a:p>
        </p:txBody>
      </p:sp>
      <p:sp>
        <p:nvSpPr>
          <p:cNvPr id="15" name="Text 8"/>
          <p:cNvSpPr txBox="1"/>
          <p:nvPr/>
        </p:nvSpPr>
        <p:spPr>
          <a:xfrm>
            <a:off x="5326084" y="3138105"/>
            <a:ext cx="3529015" cy="879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00" dirty="0" err="1">
                <a:solidFill>
                  <a:srgbClr val="D26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Клиентские</a:t>
            </a:r>
            <a:r>
              <a:rPr lang="en-US" sz="2400" dirty="0">
                <a:solidFill>
                  <a:srgbClr val="D26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 smtClean="0">
                <a:solidFill>
                  <a:srgbClr val="D26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приложения</a:t>
            </a:r>
            <a:endParaRPr lang="en-US" sz="2400" dirty="0"/>
          </a:p>
        </p:txBody>
      </p:sp>
      <p:sp>
        <p:nvSpPr>
          <p:cNvPr id="16" name="Text 9"/>
          <p:cNvSpPr txBox="1"/>
          <p:nvPr/>
        </p:nvSpPr>
        <p:spPr>
          <a:xfrm>
            <a:off x="4712207" y="4017470"/>
            <a:ext cx="3837300" cy="7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/>
              <a:t>Веб и мобильные интерфейсы </a:t>
            </a:r>
            <a:r>
              <a:rPr lang="en-US" sz="2000" dirty="0" err="1"/>
              <a:t>для</a:t>
            </a:r>
            <a:r>
              <a:rPr lang="en-US" sz="2000" dirty="0"/>
              <a:t> </a:t>
            </a:r>
            <a:r>
              <a:rPr lang="en-US" sz="2000" dirty="0" err="1"/>
              <a:t>пользователей</a:t>
            </a:r>
            <a:r>
              <a:rPr lang="en-US" sz="2000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6E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204960" cy="524010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" y="0"/>
            <a:ext cx="8869680" cy="514350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294394" y="-23873"/>
            <a:ext cx="4131900" cy="4301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2800" b="1" dirty="0" smtClean="0">
                <a:solidFill>
                  <a:srgbClr val="1C3354"/>
                </a:solidFill>
                <a:ea typeface="Arial" pitchFamily="34" charset="-122"/>
                <a:cs typeface="Arial" pitchFamily="34" charset="-120"/>
              </a:rPr>
              <a:t>  Аппаратная </a:t>
            </a:r>
            <a:r>
              <a:rPr lang="ru-RU" sz="2800" b="1" dirty="0">
                <a:solidFill>
                  <a:srgbClr val="1C3354"/>
                </a:solidFill>
                <a:ea typeface="Arial" pitchFamily="34" charset="-122"/>
                <a:cs typeface="Arial" pitchFamily="34" charset="-120"/>
              </a:rPr>
              <a:t>часть</a:t>
            </a:r>
          </a:p>
          <a:p>
            <a:endParaRPr lang="ru-RU" sz="3200" b="1" dirty="0" smtClean="0">
              <a:solidFill>
                <a:srgbClr val="1C3354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сбор данных со </a:t>
            </a:r>
            <a:r>
              <a:rPr lang="ru-RU" sz="2000" dirty="0" smtClean="0"/>
              <a:t>счетчика</a:t>
            </a:r>
          </a:p>
          <a:p>
            <a:endParaRPr lang="ru-R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первичная </a:t>
            </a:r>
            <a:r>
              <a:rPr lang="ru-RU" sz="2000" dirty="0" smtClean="0"/>
              <a:t>обработка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передача на </a:t>
            </a:r>
            <a:r>
              <a:rPr lang="ru-RU" sz="2000" dirty="0" smtClean="0"/>
              <a:t>сервер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smtClean="0"/>
              <a:t>анализ данных на сервере</a:t>
            </a:r>
            <a:endParaRPr lang="ru-RU" sz="2000" dirty="0"/>
          </a:p>
        </p:txBody>
      </p:sp>
      <p:sp>
        <p:nvSpPr>
          <p:cNvPr id="7" name="Text 1"/>
          <p:cNvSpPr txBox="1"/>
          <p:nvPr/>
        </p:nvSpPr>
        <p:spPr>
          <a:xfrm>
            <a:off x="152430" y="4866200"/>
            <a:ext cx="547800" cy="62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ru-RU" sz="1200" b="1" dirty="0">
                <a:solidFill>
                  <a:srgbClr val="427697"/>
                </a:solidFill>
                <a:latin typeface="Arial" pitchFamily="34" charset="0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9" name="AutoShape 4" descr="SuperMini ESP32-C3 Development Board (SuperMini-ESP32-C3) Configuration for  Tasmot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7621" y="114714"/>
            <a:ext cx="4411979" cy="48078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</p:pic>
      <p:sp>
        <p:nvSpPr>
          <p:cNvPr id="6" name="Text 0"/>
          <p:cNvSpPr txBox="1"/>
          <p:nvPr/>
        </p:nvSpPr>
        <p:spPr>
          <a:xfrm>
            <a:off x="320720" y="590868"/>
            <a:ext cx="4131900" cy="4042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ru-RU" sz="2400" b="1" dirty="0" smtClean="0">
                <a:solidFill>
                  <a:srgbClr val="1C3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Аппаратная </a:t>
            </a:r>
            <a:r>
              <a:rPr lang="ru-RU" sz="2400" b="1" dirty="0" smtClean="0">
                <a:solidFill>
                  <a:srgbClr val="1C3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часть</a:t>
            </a:r>
            <a:r>
              <a:rPr lang="en-US" sz="3000" dirty="0">
                <a:solidFill>
                  <a:srgbClr val="1C3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
</a:t>
            </a:r>
            <a:r>
              <a:rPr lang="ru-RU" b="1" i="1" dirty="0" smtClean="0">
                <a:solidFill>
                  <a:srgbClr val="1C3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Микроконтроллер </a:t>
            </a:r>
            <a:r>
              <a:rPr lang="en-US" b="1" i="1" dirty="0" smtClean="0">
                <a:solidFill>
                  <a:srgbClr val="1C3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ESP32</a:t>
            </a:r>
            <a:r>
              <a:rPr lang="en-US" dirty="0">
                <a:solidFill>
                  <a:srgbClr val="1C3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
</a:t>
            </a:r>
            <a:r>
              <a:rPr lang="ru-RU" dirty="0" smtClean="0">
                <a:solidFill>
                  <a:srgbClr val="1C3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  ESP32 </a:t>
            </a:r>
            <a:r>
              <a:rPr lang="ru-RU" dirty="0">
                <a:solidFill>
                  <a:srgbClr val="1C3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используется для сбора данных с приборов учёта, их первичной обработки и передачи на сервер.</a:t>
            </a:r>
          </a:p>
          <a:p>
            <a:pPr algn="just">
              <a:lnSpc>
                <a:spcPct val="150000"/>
              </a:lnSpc>
            </a:pPr>
            <a:r>
              <a:rPr lang="ru-RU" dirty="0" smtClean="0">
                <a:solidFill>
                  <a:srgbClr val="1C3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  Поддержка </a:t>
            </a:r>
            <a:r>
              <a:rPr lang="ru-RU" dirty="0" err="1">
                <a:solidFill>
                  <a:srgbClr val="1C3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Wi-Fi</a:t>
            </a:r>
            <a:r>
              <a:rPr lang="ru-RU" dirty="0">
                <a:solidFill>
                  <a:srgbClr val="1C3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и </a:t>
            </a:r>
            <a:r>
              <a:rPr lang="ru-RU" dirty="0" err="1">
                <a:solidFill>
                  <a:srgbClr val="1C3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Bluetooth</a:t>
            </a:r>
            <a:r>
              <a:rPr lang="ru-RU" dirty="0">
                <a:solidFill>
                  <a:srgbClr val="1C3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обеспечивает гибкость подключения и интеграцию в </a:t>
            </a:r>
            <a:r>
              <a:rPr lang="ru-RU" dirty="0" err="1">
                <a:solidFill>
                  <a:srgbClr val="1C3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IoT</a:t>
            </a:r>
            <a:r>
              <a:rPr lang="ru-RU" dirty="0">
                <a:solidFill>
                  <a:srgbClr val="1C3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-системы. </a:t>
            </a:r>
            <a:r>
              <a:rPr lang="en-US" sz="1200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2300" dirty="0"/>
          </a:p>
        </p:txBody>
      </p:sp>
      <p:sp>
        <p:nvSpPr>
          <p:cNvPr id="7" name="Text 1"/>
          <p:cNvSpPr txBox="1"/>
          <p:nvPr/>
        </p:nvSpPr>
        <p:spPr>
          <a:xfrm>
            <a:off x="104375" y="4866200"/>
            <a:ext cx="547800" cy="62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ru-RU" sz="1200" b="1" dirty="0">
                <a:solidFill>
                  <a:srgbClr val="427697"/>
                </a:solidFill>
                <a:latin typeface="Arial" pitchFamily="34" charset="0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9" name="AutoShape 4" descr="SuperMini ESP32-C3 Development Board (SuperMini-ESP32-C3) Configuration for  Tasmot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0475" y="160338"/>
            <a:ext cx="4147775" cy="4472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005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5" y="0"/>
            <a:ext cx="9144000" cy="5143500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104375" y="4866200"/>
            <a:ext cx="547800" cy="62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ru-RU" sz="1200" b="1" dirty="0" smtClean="0">
                <a:solidFill>
                  <a:srgbClr val="427697"/>
                </a:solidFill>
                <a:latin typeface="Arial" pitchFamily="34" charset="0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9" name="AutoShape 4" descr="SuperMini ESP32-C3 Development Board (SuperMini-ESP32-C3) Configuration for  Tasmot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155575" y="419101"/>
            <a:ext cx="396684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800" b="1" dirty="0">
                <a:solidFill>
                  <a:srgbClr val="1C3354"/>
                </a:solidFill>
                <a:ea typeface="Arial" pitchFamily="34" charset="-122"/>
                <a:cs typeface="Arial" pitchFamily="34" charset="-120"/>
              </a:rPr>
              <a:t>Программная часть</a:t>
            </a:r>
          </a:p>
          <a:p>
            <a:pPr algn="just"/>
            <a:endParaRPr lang="ru-RU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 smtClean="0"/>
              <a:t>сервер</a:t>
            </a:r>
            <a:r>
              <a:rPr lang="ru-RU" sz="2000" dirty="0"/>
              <a:t>: Python, </a:t>
            </a:r>
            <a:r>
              <a:rPr lang="ru-RU" sz="2000" dirty="0" err="1"/>
              <a:t>Flask</a:t>
            </a:r>
            <a:endParaRPr lang="ru-RU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/>
              <a:t>база </a:t>
            </a:r>
            <a:r>
              <a:rPr lang="ru-RU" sz="2000" dirty="0"/>
              <a:t>данных: </a:t>
            </a:r>
            <a:r>
              <a:rPr lang="ru-RU" sz="2000" dirty="0" err="1"/>
              <a:t>PostgreSQL</a:t>
            </a:r>
            <a:endParaRPr lang="ru-RU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/>
              <a:t>веб-интерфейс для </a:t>
            </a:r>
            <a:r>
              <a:rPr lang="ru-RU" sz="2000" dirty="0"/>
              <a:t>пользователя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/>
              <a:t>обработка </a:t>
            </a:r>
            <a:r>
              <a:rPr lang="ru-RU" sz="2000" dirty="0"/>
              <a:t>и хранение данных</a:t>
            </a:r>
          </a:p>
        </p:txBody>
      </p:sp>
      <p:pic>
        <p:nvPicPr>
          <p:cNvPr id="11" name="Рисунок 10" descr="Архитектура системы FoxDen.drawio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22421" y="160338"/>
            <a:ext cx="4846319" cy="4556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908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6E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45772" y="-77"/>
            <a:ext cx="8380800" cy="8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lnSpc>
                <a:spcPct val="150000"/>
              </a:lnSpc>
              <a:buNone/>
            </a:pPr>
            <a:r>
              <a:rPr lang="ru-RU" sz="2800" b="1" dirty="0">
                <a:solidFill>
                  <a:srgbClr val="1C3354"/>
                </a:solidFill>
                <a:ea typeface="Arial" pitchFamily="34" charset="-122"/>
                <a:cs typeface="Arial" pitchFamily="34" charset="-120"/>
              </a:rPr>
              <a:t>Структура данных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5162816" y="949200"/>
            <a:ext cx="3878045" cy="3570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/>
              <a:t>Чёткая </a:t>
            </a:r>
            <a:r>
              <a:rPr lang="ru-RU" sz="2000" dirty="0"/>
              <a:t>структура </a:t>
            </a:r>
            <a:r>
              <a:rPr lang="ru-RU" sz="2000" dirty="0"/>
              <a:t>таблиц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/>
              <a:t>Обеспечивает высокую скорость доступа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/>
              <a:t>Позволяет легко расширять функционал 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42332" y="4777775"/>
            <a:ext cx="547800" cy="62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ru-RU" sz="1200" b="1" dirty="0" smtClean="0">
                <a:solidFill>
                  <a:srgbClr val="4276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b="1" dirty="0" smtClean="0">
              <a:solidFill>
                <a:srgbClr val="42769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pic>
        <p:nvPicPr>
          <p:cNvPr id="9" name="Рисунок 8" descr="D:\Семья\Схема БД.drawio.png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5672" y="949200"/>
            <a:ext cx="5017348" cy="3661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6E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1"/>
          <p:cNvSpPr txBox="1"/>
          <p:nvPr/>
        </p:nvSpPr>
        <p:spPr>
          <a:xfrm>
            <a:off x="8495196" y="4866200"/>
            <a:ext cx="547800" cy="62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6E9EF"/>
                </a:solidFill>
                <a:latin typeface="Arial" pitchFamily="34" charset="0"/>
                <a:cs typeface="Arial" pitchFamily="34" charset="-120"/>
              </a:rPr>
              <a:t>9</a:t>
            </a:r>
            <a:endParaRPr lang="en-US" sz="1200" dirty="0"/>
          </a:p>
        </p:txBody>
      </p:sp>
      <p:pic>
        <p:nvPicPr>
          <p:cNvPr id="8" name="Рисунок 7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700" y="9635"/>
            <a:ext cx="3916680" cy="512254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Прямоугольник 8"/>
          <p:cNvSpPr/>
          <p:nvPr/>
        </p:nvSpPr>
        <p:spPr>
          <a:xfrm>
            <a:off x="426720" y="650230"/>
            <a:ext cx="4716780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err="1">
                <a:solidFill>
                  <a:srgbClr val="1C3354"/>
                </a:solidFill>
                <a:ea typeface="Arial" pitchFamily="34" charset="-122"/>
                <a:cs typeface="Arial" pitchFamily="34" charset="-120"/>
              </a:rPr>
              <a:t>Bluetooth</a:t>
            </a:r>
            <a:r>
              <a:rPr lang="ru-RU" sz="2800" b="1" dirty="0">
                <a:solidFill>
                  <a:srgbClr val="1C3354"/>
                </a:solidFill>
                <a:ea typeface="Arial" pitchFamily="34" charset="-122"/>
                <a:cs typeface="Arial" pitchFamily="34" charset="-120"/>
              </a:rPr>
              <a:t>-подключение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первичная </a:t>
            </a:r>
            <a:r>
              <a:rPr lang="ru-RU" sz="2000" dirty="0"/>
              <a:t>настройка </a:t>
            </a:r>
            <a:r>
              <a:rPr lang="ru-RU" sz="2000" dirty="0" smtClean="0"/>
              <a:t>устройства</a:t>
            </a:r>
          </a:p>
          <a:p>
            <a:endParaRPr lang="ru-R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передача </a:t>
            </a:r>
            <a:r>
              <a:rPr lang="ru-RU" sz="2000" dirty="0"/>
              <a:t>параметров без </a:t>
            </a:r>
            <a:r>
              <a:rPr lang="ru-RU" sz="2000" dirty="0" smtClean="0"/>
              <a:t>сети</a:t>
            </a:r>
          </a:p>
          <a:p>
            <a:endParaRPr lang="ru-R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резервный </a:t>
            </a:r>
            <a:r>
              <a:rPr lang="ru-RU" sz="2000" dirty="0"/>
              <a:t>канал </a:t>
            </a:r>
            <a:r>
              <a:rPr lang="ru-RU" sz="2000" dirty="0" smtClean="0"/>
              <a:t>связи</a:t>
            </a:r>
          </a:p>
          <a:p>
            <a:endParaRPr lang="ru-R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 </a:t>
            </a:r>
            <a:r>
              <a:rPr lang="ru-RU" sz="2000" dirty="0"/>
              <a:t>упрощение установки </a:t>
            </a:r>
            <a:r>
              <a:rPr lang="ru-RU" sz="2000" dirty="0"/>
              <a:t>системы</a:t>
            </a:r>
            <a:endParaRPr lang="ru-RU" sz="2000" dirty="0"/>
          </a:p>
        </p:txBody>
      </p:sp>
      <p:sp>
        <p:nvSpPr>
          <p:cNvPr id="10" name="Text 1"/>
          <p:cNvSpPr txBox="1"/>
          <p:nvPr/>
        </p:nvSpPr>
        <p:spPr>
          <a:xfrm>
            <a:off x="152820" y="4789890"/>
            <a:ext cx="547800" cy="332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ru-RU" sz="1200" b="1" dirty="0" smtClean="0">
                <a:solidFill>
                  <a:srgbClr val="4276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6E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 txBox="1"/>
          <p:nvPr/>
        </p:nvSpPr>
        <p:spPr>
          <a:xfrm>
            <a:off x="104375" y="4866200"/>
            <a:ext cx="547800" cy="62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ru-RU" sz="1200" b="1" dirty="0" smtClean="0">
                <a:solidFill>
                  <a:srgbClr val="4276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04375" y="366028"/>
            <a:ext cx="4084320" cy="4308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1C3354"/>
                </a:solidFill>
                <a:ea typeface="Arial" pitchFamily="34" charset="-122"/>
                <a:cs typeface="Arial" pitchFamily="34" charset="-120"/>
              </a:rPr>
              <a:t>Пользовательский </a:t>
            </a:r>
            <a:r>
              <a:rPr lang="ru-RU" sz="2800" b="1" dirty="0" smtClean="0">
                <a:solidFill>
                  <a:srgbClr val="1C3354"/>
                </a:solidFill>
                <a:ea typeface="Arial" pitchFamily="34" charset="-122"/>
                <a:cs typeface="Arial" pitchFamily="34" charset="-120"/>
              </a:rPr>
              <a:t>интерфейс вебсайта</a:t>
            </a:r>
            <a:endParaRPr lang="en-US" sz="2800" b="1" dirty="0">
              <a:solidFill>
                <a:srgbClr val="1C3354"/>
              </a:solidFill>
              <a:ea typeface="Arial" pitchFamily="34" charset="-122"/>
              <a:cs typeface="Arial" pitchFamily="34" charset="-12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отображение </a:t>
            </a:r>
            <a:r>
              <a:rPr lang="ru-RU" sz="2000" dirty="0"/>
              <a:t>текущих </a:t>
            </a:r>
            <a:r>
              <a:rPr lang="ru-RU" sz="2000" dirty="0" smtClean="0"/>
              <a:t>показаний ПУ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графики </a:t>
            </a:r>
            <a:r>
              <a:rPr lang="ru-RU" sz="2000" dirty="0" smtClean="0"/>
              <a:t>потребления ресурсов</a:t>
            </a:r>
          </a:p>
          <a:p>
            <a:endParaRPr lang="ru-R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уведомления </a:t>
            </a:r>
            <a:r>
              <a:rPr lang="ru-RU" sz="2000" dirty="0"/>
              <a:t>об </a:t>
            </a:r>
            <a:r>
              <a:rPr lang="ru-RU" sz="2000" dirty="0" smtClean="0"/>
              <a:t>утечках</a:t>
            </a:r>
          </a:p>
          <a:p>
            <a:endParaRPr lang="ru-R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доступ </a:t>
            </a:r>
            <a:r>
              <a:rPr lang="ru-RU" sz="2000" dirty="0"/>
              <a:t>через </a:t>
            </a:r>
            <a:r>
              <a:rPr lang="ru-RU" sz="2000" dirty="0" smtClean="0"/>
              <a:t>браузер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/>
          </a:p>
          <a:p>
            <a:endParaRPr lang="ru-RU" sz="20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4340" y="137160"/>
            <a:ext cx="4770120" cy="48661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40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20000" y="254325"/>
            <a:ext cx="7704000" cy="851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C335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Алгоритмы обнаружения аномалий и утечек
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 txBox="1"/>
          <p:nvPr/>
        </p:nvSpPr>
        <p:spPr>
          <a:xfrm>
            <a:off x="1779223" y="3189315"/>
            <a:ext cx="3655661" cy="1738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ru-RU" dirty="0">
                <a:solidFill>
                  <a:srgbClr val="1C335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Ночной анализ выявляет фоновый расход в периоды бездействия, характерный для скрытых утечек и неисправностей. </a:t>
            </a:r>
            <a:r>
              <a:rPr lang="en-US" sz="1300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1779224" y="1106025"/>
            <a:ext cx="3044235" cy="2101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ru-RU" sz="1600" dirty="0">
                <a:solidFill>
                  <a:srgbClr val="1C3354"/>
                </a:solidFill>
                <a:ea typeface="Arial" pitchFamily="34" charset="-122"/>
                <a:cs typeface="Times New Roman" panose="02020603050405020304" pitchFamily="18" charset="0"/>
              </a:rPr>
              <a:t>Пороговый метод обнаруживает превышение расхода сверх нормы в течение заданного времени, помогая выявить утечки и неисправности на ранних стадиях. </a:t>
            </a:r>
            <a:r>
              <a:rPr lang="en-US" sz="1600" dirty="0">
                <a:solidFill>
                  <a:srgbClr val="1C3354"/>
                </a:solidFill>
                <a:ea typeface="Arial" pitchFamily="34" charset="-122"/>
                <a:cs typeface="Times New Roman" panose="02020603050405020304" pitchFamily="18" charset="0"/>
              </a:rPr>
              <a:t>
</a:t>
            </a:r>
            <a:endParaRPr lang="en-US" sz="1600" dirty="0"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6013325" y="1106025"/>
            <a:ext cx="2876700" cy="2101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ru-RU" dirty="0"/>
              <a:t>Статистический анализ выявляет аномалии как резкие изменения потребления, выходящие за границы трёх сигм. </a:t>
            </a:r>
            <a:r>
              <a:rPr lang="en-US" sz="1300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104375" y="4866200"/>
            <a:ext cx="547800" cy="62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 smtClean="0">
                <a:solidFill>
                  <a:srgbClr val="4276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ru-RU" sz="1200" b="1" dirty="0" smtClean="0">
                <a:solidFill>
                  <a:srgbClr val="4276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9265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2396" y="-1448571"/>
            <a:ext cx="9144000" cy="5143500"/>
          </a:xfrm>
          <a:prstGeom prst="rect">
            <a:avLst/>
          </a:prstGeom>
        </p:spPr>
      </p:pic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7620"/>
            <a:ext cx="9144000" cy="5143500"/>
          </a:xfrm>
          <a:prstGeom prst="rect">
            <a:avLst/>
          </a:prstGeom>
        </p:spPr>
      </p:pic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2396" y="-68966"/>
            <a:ext cx="9144000" cy="514350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74" y="456539"/>
            <a:ext cx="8707229" cy="4721361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4375" y="4866200"/>
            <a:ext cx="547800" cy="62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 smtClean="0">
                <a:solidFill>
                  <a:srgbClr val="4276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ru-RU" sz="1200" b="1" dirty="0">
                <a:solidFill>
                  <a:srgbClr val="4276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4729125" y="637394"/>
            <a:ext cx="3502800" cy="89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/>
              <a:t>Алгоритм</a:t>
            </a:r>
            <a:r>
              <a:rPr lang="en-US" sz="2000" dirty="0"/>
              <a:t> </a:t>
            </a:r>
            <a:r>
              <a:rPr lang="en-US" sz="2000" dirty="0" err="1"/>
              <a:t>выявляет</a:t>
            </a:r>
            <a:r>
              <a:rPr lang="en-US" sz="2000" dirty="0"/>
              <a:t> </a:t>
            </a:r>
            <a:r>
              <a:rPr lang="en-US" sz="2000" dirty="0" err="1"/>
              <a:t>непрерывное</a:t>
            </a:r>
            <a:r>
              <a:rPr lang="en-US" sz="2000" dirty="0"/>
              <a:t> </a:t>
            </a:r>
            <a:r>
              <a:rPr lang="en-US" sz="2000" dirty="0" err="1"/>
              <a:t>потребление</a:t>
            </a:r>
            <a:r>
              <a:rPr lang="en-US" sz="2000" dirty="0"/>
              <a:t> в </a:t>
            </a:r>
            <a:r>
              <a:rPr lang="en-US" sz="2000" dirty="0" err="1"/>
              <a:t>течение</a:t>
            </a:r>
            <a:r>
              <a:rPr lang="en-US" sz="2000" dirty="0"/>
              <a:t> </a:t>
            </a:r>
            <a:r>
              <a:rPr lang="en-US" sz="2000" dirty="0" err="1"/>
              <a:t>более</a:t>
            </a:r>
            <a:r>
              <a:rPr lang="en-US" sz="2000" dirty="0"/>
              <a:t> 60 </a:t>
            </a:r>
            <a:r>
              <a:rPr lang="en-US" sz="2000" dirty="0" err="1" smtClean="0"/>
              <a:t>минут</a:t>
            </a:r>
            <a:r>
              <a:rPr lang="en-US" sz="1200" dirty="0" smtClean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4729124" y="2148454"/>
            <a:ext cx="4082480" cy="1283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/>
              <a:t>Анализ ночного потребления фиксирует три и более изменения в показаниях с полуночи до </a:t>
            </a:r>
            <a:r>
              <a:rPr lang="en-US" sz="2000" dirty="0" err="1"/>
              <a:t>шести</a:t>
            </a:r>
            <a:r>
              <a:rPr lang="en-US" sz="2000" dirty="0"/>
              <a:t> </a:t>
            </a:r>
            <a:r>
              <a:rPr lang="en-US" sz="2000" dirty="0" err="1" smtClean="0"/>
              <a:t>утра</a:t>
            </a:r>
            <a:r>
              <a:rPr lang="en-US" sz="1200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4748050" y="3694929"/>
            <a:ext cx="3710150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/>
              <a:t>Оценка скорости расхода сопоставляет текущие показатели с </a:t>
            </a:r>
            <a:r>
              <a:rPr lang="en-US" sz="2000" dirty="0" err="1"/>
              <a:t>недельной</a:t>
            </a:r>
            <a:r>
              <a:rPr lang="en-US" sz="2000" dirty="0"/>
              <a:t> </a:t>
            </a:r>
            <a:r>
              <a:rPr lang="en-US" sz="2000" dirty="0" err="1" smtClean="0"/>
              <a:t>нормой</a:t>
            </a:r>
            <a:r>
              <a:rPr lang="en-US" sz="1200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00" dirty="0"/>
          </a:p>
        </p:txBody>
      </p:sp>
      <p:sp>
        <p:nvSpPr>
          <p:cNvPr id="15" name="Text 0"/>
          <p:cNvSpPr txBox="1"/>
          <p:nvPr/>
        </p:nvSpPr>
        <p:spPr>
          <a:xfrm>
            <a:off x="207908" y="518079"/>
            <a:ext cx="3615091" cy="121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2800" b="1" dirty="0" smtClean="0">
                <a:solidFill>
                  <a:srgbClr val="1C3354"/>
                </a:solidFill>
                <a:ea typeface="Arial" pitchFamily="34" charset="-122"/>
                <a:cs typeface="Arial" pitchFamily="34" charset="-120"/>
              </a:rPr>
              <a:t>Программный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800" b="1" dirty="0">
                <a:solidFill>
                  <a:srgbClr val="1C3354"/>
                </a:solidFill>
                <a:ea typeface="Arial" pitchFamily="34" charset="-122"/>
                <a:cs typeface="Arial" pitchFamily="34" charset="-120"/>
              </a:rPr>
              <a:t>м</a:t>
            </a:r>
            <a:r>
              <a:rPr lang="en-US" sz="2800" b="1" dirty="0" err="1" smtClean="0">
                <a:solidFill>
                  <a:srgbClr val="1C3354"/>
                </a:solidFill>
                <a:ea typeface="Arial" pitchFamily="34" charset="-122"/>
                <a:cs typeface="Arial" pitchFamily="34" charset="-120"/>
              </a:rPr>
              <a:t>одуль</a:t>
            </a:r>
            <a:r>
              <a:rPr lang="en-US" sz="2800" b="1" dirty="0" smtClean="0">
                <a:solidFill>
                  <a:srgbClr val="1C3354"/>
                </a:solidFill>
                <a:ea typeface="Arial" pitchFamily="34" charset="-122"/>
                <a:cs typeface="Arial" pitchFamily="34" charset="-120"/>
              </a:rPr>
              <a:t> </a:t>
            </a:r>
            <a:r>
              <a:rPr lang="ru-RU" sz="2800" b="1" dirty="0" smtClean="0">
                <a:solidFill>
                  <a:srgbClr val="1C3354"/>
                </a:solidFill>
                <a:ea typeface="Arial" pitchFamily="34" charset="-122"/>
                <a:cs typeface="Arial" pitchFamily="34" charset="-120"/>
              </a:rPr>
              <a:t>анализа утечек </a:t>
            </a:r>
            <a:r>
              <a:rPr lang="en-US" sz="2800" b="1" dirty="0" err="1" smtClean="0">
                <a:solidFill>
                  <a:srgbClr val="1C3354"/>
                </a:solidFill>
                <a:ea typeface="Arial" pitchFamily="34" charset="-122"/>
                <a:cs typeface="Arial" pitchFamily="34" charset="-120"/>
              </a:rPr>
              <a:t>LeakDetector</a:t>
            </a:r>
            <a:r>
              <a:rPr lang="en-US" sz="2800" b="1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2800" dirty="0"/>
          </a:p>
        </p:txBody>
      </p:sp>
      <p:sp>
        <p:nvSpPr>
          <p:cNvPr id="19" name="Прямоугольник 18"/>
          <p:cNvSpPr/>
          <p:nvPr/>
        </p:nvSpPr>
        <p:spPr>
          <a:xfrm>
            <a:off x="207909" y="2215146"/>
            <a:ext cx="444266" cy="378584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04</a:t>
            </a:r>
            <a:endParaRPr lang="ru-RU" dirty="0"/>
          </a:p>
        </p:txBody>
      </p:sp>
      <p:sp>
        <p:nvSpPr>
          <p:cNvPr id="20" name="Прямоугольник 19"/>
          <p:cNvSpPr/>
          <p:nvPr/>
        </p:nvSpPr>
        <p:spPr>
          <a:xfrm>
            <a:off x="755710" y="1984074"/>
            <a:ext cx="3531205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dirty="0" smtClean="0"/>
              <a:t>Система </a:t>
            </a:r>
            <a:r>
              <a:rPr lang="ru-RU" sz="2000" dirty="0"/>
              <a:t>уведомлений, которая автоматически отправляет e-</a:t>
            </a:r>
            <a:r>
              <a:rPr lang="ru-RU" sz="2000" dirty="0" err="1"/>
              <a:t>mail</a:t>
            </a:r>
            <a:r>
              <a:rPr lang="ru-RU" sz="2000" dirty="0"/>
              <a:t> при обнаружении аномального водопотребления.</a:t>
            </a:r>
          </a:p>
        </p:txBody>
      </p:sp>
    </p:spTree>
    <p:extLst>
      <p:ext uri="{BB962C8B-B14F-4D97-AF65-F5344CB8AC3E}">
        <p14:creationId xmlns:p14="http://schemas.microsoft.com/office/powerpoint/2010/main" val="289185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9436" y="545261"/>
            <a:ext cx="3531440" cy="353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656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11995" y="4866200"/>
            <a:ext cx="547800" cy="62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 smtClean="0">
                <a:solidFill>
                  <a:srgbClr val="4276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ru-RU" sz="1200" b="1" dirty="0" smtClean="0">
                <a:solidFill>
                  <a:srgbClr val="4276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6" name="Text 0"/>
          <p:cNvSpPr txBox="1"/>
          <p:nvPr/>
        </p:nvSpPr>
        <p:spPr>
          <a:xfrm>
            <a:off x="652175" y="102368"/>
            <a:ext cx="7696500" cy="693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ru-RU" sz="2800" dirty="0" smtClean="0"/>
              <a:t>Заключение</a:t>
            </a:r>
            <a:endParaRPr lang="en-US" sz="28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30770" y="795714"/>
            <a:ext cx="8806550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В результате реализации проекта</a:t>
            </a:r>
            <a:r>
              <a:rPr lang="ru-RU" dirty="0" smtClean="0"/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smtClean="0"/>
              <a:t>Создано устройство, которое можно применить с любым прибором учета, </a:t>
            </a:r>
            <a:r>
              <a:rPr lang="ru-RU" dirty="0"/>
              <a:t>о</a:t>
            </a:r>
            <a:r>
              <a:rPr lang="ru-RU" dirty="0" smtClean="0"/>
              <a:t>бладающим герконом и импульсным выходом 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smtClean="0"/>
              <a:t>Экономически более выгодно, чем существующие аналоги «умных» приборов учета;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smtClean="0"/>
              <a:t>Система анализа и информирования обладает большим информационным потенциалом для пользователя;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smtClean="0"/>
              <a:t>Данный проект можно интегрировать в любую систему «умный дом».</a:t>
            </a:r>
            <a:endParaRPr lang="ru-RU" dirty="0"/>
          </a:p>
          <a:p>
            <a:pPr>
              <a:lnSpc>
                <a:spcPct val="150000"/>
              </a:lnSpc>
            </a:pPr>
            <a:r>
              <a:rPr lang="ru-RU" dirty="0"/>
              <a:t>Решение может быть использовано в любой квартире или домовладении, также может быть применено, для приборов учета не только воды, но и </a:t>
            </a:r>
            <a:r>
              <a:rPr lang="ru-RU" dirty="0" smtClean="0"/>
              <a:t>газа.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7177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91847" y="2164080"/>
            <a:ext cx="7760305" cy="284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ru-RU" sz="4800" b="1" dirty="0" smtClean="0">
                <a:solidFill>
                  <a:srgbClr val="4276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</a:t>
            </a:r>
            <a:r>
              <a:rPr lang="en-US" sz="4800" b="1" dirty="0" smtClean="0">
                <a:solidFill>
                  <a:srgbClr val="4276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635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10136</TotalTime>
  <Words>542</Words>
  <Application>Microsoft Office PowerPoint</Application>
  <PresentationFormat>Экран (16:9)</PresentationFormat>
  <Paragraphs>134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Vladimir</cp:lastModifiedBy>
  <cp:revision>83</cp:revision>
  <dcterms:created xsi:type="dcterms:W3CDTF">2026-01-14T18:32:30Z</dcterms:created>
  <dcterms:modified xsi:type="dcterms:W3CDTF">2026-02-09T21:29:31Z</dcterms:modified>
</cp:coreProperties>
</file>